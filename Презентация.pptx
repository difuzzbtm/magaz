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Century Gothic" panose="020B0502020202020204" pitchFamily="3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hXtGekBOfo+nR5uAxb1y/bHQM5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36836af5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3a36836af5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f002684f3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g1f002684f3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f002684f3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1f002684f3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/>
          <p:nvPr/>
        </p:nvSpPr>
        <p:spPr>
          <a:xfrm>
            <a:off x="0" y="-3175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9"/>
          <p:cNvSpPr txBox="1"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1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0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" name="Google Shape;20;p2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0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22" name="Google Shape;22;p2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p2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1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body" idx="2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/>
          <p:nvPr/>
        </p:nvSpPr>
        <p:spPr>
          <a:xfrm>
            <a:off x="0" y="1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22"/>
          <p:cNvSpPr txBox="1"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sz="48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2"/>
          <p:cNvSpPr txBox="1"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2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2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body" idx="2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body" idx="3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body" idx="4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2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4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5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5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5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6"/>
          <p:cNvSpPr/>
          <p:nvPr/>
        </p:nvSpPr>
        <p:spPr>
          <a:xfrm>
            <a:off x="1073151" y="446087"/>
            <a:ext cx="3547533" cy="1814651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26"/>
          <p:cNvSpPr txBox="1"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6"/>
          <p:cNvSpPr txBox="1">
            <a:spLocks noGrp="1"/>
          </p:cNvSpPr>
          <p:nvPr>
            <p:ph type="body" idx="1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64" name="Google Shape;64;p26"/>
          <p:cNvSpPr txBox="1">
            <a:spLocks noGrp="1"/>
          </p:cNvSpPr>
          <p:nvPr>
            <p:ph type="body" idx="2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7"/>
          <p:cNvSpPr>
            <a:spLocks noGrp="1"/>
          </p:cNvSpPr>
          <p:nvPr>
            <p:ph type="pic" idx="2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27"/>
          <p:cNvSpPr txBox="1">
            <a:spLocks noGrp="1"/>
          </p:cNvSpPr>
          <p:nvPr>
            <p:ph type="body" idx="1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2" name="Google Shape;72;p27"/>
          <p:cNvSpPr txBox="1">
            <a:spLocks noGrp="1"/>
          </p:cNvSpPr>
          <p:nvPr>
            <p:ph type="dt" idx="10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7"/>
          <p:cNvSpPr txBox="1">
            <a:spLocks noGrp="1"/>
          </p:cNvSpPr>
          <p:nvPr>
            <p:ph type="ftr" idx="11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sldNum" idx="12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анорамная фотография с подписью">
  <p:cSld name="Панорамная фотография с подписью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8"/>
          <p:cNvSpPr txBox="1"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8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w="9525" cap="rnd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8" name="Google Shape;78;p28"/>
          <p:cNvSpPr txBox="1">
            <a:spLocks noGrp="1"/>
          </p:cNvSpPr>
          <p:nvPr>
            <p:ph type="body" idx="1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9" name="Google Shape;79;p2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 с подписью">
  <p:cSld name="Цитата с подписью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9"/>
          <p:cNvSpPr/>
          <p:nvPr/>
        </p:nvSpPr>
        <p:spPr>
          <a:xfrm>
            <a:off x="631697" y="1081456"/>
            <a:ext cx="6332416" cy="3239188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29"/>
          <p:cNvSpPr txBox="1"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sz="42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9"/>
          <p:cNvSpPr txBox="1"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29"/>
          <p:cNvSpPr txBox="1">
            <a:spLocks noGrp="1"/>
          </p:cNvSpPr>
          <p:nvPr>
            <p:ph type="body" idx="2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87" name="Google Shape;87;p2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Карточка имени">
  <p:cSld name="Карточка имени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0"/>
          <p:cNvSpPr/>
          <p:nvPr/>
        </p:nvSpPr>
        <p:spPr>
          <a:xfrm>
            <a:off x="1140884" y="2286585"/>
            <a:ext cx="4895115" cy="2503972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30"/>
          <p:cNvSpPr txBox="1"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0"/>
          <p:cNvSpPr txBox="1">
            <a:spLocks noGrp="1"/>
          </p:cNvSpPr>
          <p:nvPr>
            <p:ph type="body" idx="1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94" name="Google Shape;94;p3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1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3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1"/>
          <p:cNvSpPr txBox="1">
            <a:spLocks noGrp="1"/>
          </p:cNvSpPr>
          <p:nvPr>
            <p:ph type="body" idx="1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101" name="Google Shape;101;p31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31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31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2"/>
          <p:cNvSpPr/>
          <p:nvPr/>
        </p:nvSpPr>
        <p:spPr>
          <a:xfrm>
            <a:off x="7669651" y="446089"/>
            <a:ext cx="4522349" cy="5414962"/>
          </a:xfrm>
          <a:custGeom>
            <a:avLst/>
            <a:gdLst/>
            <a:ahLst/>
            <a:cxnLst/>
            <a:rect l="l" t="t" r="r" b="b"/>
            <a:pathLst>
              <a:path w="2879" h="4320" extrusionOk="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32"/>
          <p:cNvSpPr txBox="1">
            <a:spLocks noGrp="1"/>
          </p:cNvSpPr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2"/>
          <p:cNvSpPr txBox="1">
            <a:spLocks noGrp="1"/>
          </p:cNvSpPr>
          <p:nvPr>
            <p:ph type="body" idx="1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108" name="Google Shape;108;p32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32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2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9" name="Google Shape;9;p1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0" name="Google Shape;10;p1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ifuzzBTM/MAGAZ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"/>
          <p:cNvSpPr txBox="1">
            <a:spLocks noGrp="1"/>
          </p:cNvSpPr>
          <p:nvPr>
            <p:ph type="ctrTitle"/>
          </p:nvPr>
        </p:nvSpPr>
        <p:spPr>
          <a:xfrm>
            <a:off x="810001" y="142086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ru-RU" dirty="0"/>
              <a:t>Сайт-магазин одежды</a:t>
            </a:r>
            <a:endParaRPr dirty="0"/>
          </a:p>
        </p:txBody>
      </p:sp>
      <p:sp>
        <p:nvSpPr>
          <p:cNvPr id="116" name="Google Shape;116;p1"/>
          <p:cNvSpPr txBox="1">
            <a:spLocks noGrp="1"/>
          </p:cNvSpPr>
          <p:nvPr>
            <p:ph type="subTitle" idx="1"/>
          </p:nvPr>
        </p:nvSpPr>
        <p:spPr>
          <a:xfrm>
            <a:off x="1208043" y="5214170"/>
            <a:ext cx="10572000" cy="114823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ru-RU" dirty="0"/>
              <a:t>Выполнил: </a:t>
            </a:r>
            <a:endParaRPr dirty="0"/>
          </a:p>
          <a:p>
            <a:pPr marL="0" lvl="0" indent="0" algn="r" rtl="0">
              <a:spcBef>
                <a:spcPts val="933"/>
              </a:spcBef>
              <a:spcAft>
                <a:spcPts val="0"/>
              </a:spcAft>
              <a:buSzPct val="100000"/>
              <a:buNone/>
            </a:pPr>
            <a:r>
              <a:rPr lang="ru-RU" dirty="0"/>
              <a:t>Акиндинов Алексей Алексеевич</a:t>
            </a:r>
            <a:endParaRPr dirty="0"/>
          </a:p>
          <a:p>
            <a:pPr marL="0" lvl="0" indent="0" algn="l" rtl="0">
              <a:spcBef>
                <a:spcPts val="933"/>
              </a:spcBef>
              <a:spcAft>
                <a:spcPts val="0"/>
              </a:spcAft>
              <a:buSzPct val="100000"/>
              <a:buNone/>
            </a:pP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FD754A-40CB-4C38-88D7-B28FAB40A1FB}"/>
              </a:ext>
            </a:extLst>
          </p:cNvPr>
          <p:cNvSpPr txBox="1"/>
          <p:nvPr/>
        </p:nvSpPr>
        <p:spPr>
          <a:xfrm>
            <a:off x="5679281" y="6177737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 sz="180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t>1</a:t>
            </a:fld>
            <a:endParaRPr lang="ru-RU" sz="1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ru-RU"/>
              <a:t>Цели и задачи</a:t>
            </a:r>
            <a:endParaRPr/>
          </a:p>
        </p:txBody>
      </p:sp>
      <p:sp>
        <p:nvSpPr>
          <p:cNvPr id="122" name="Google Shape;122;p3"/>
          <p:cNvSpPr txBox="1">
            <a:spLocks noGrp="1"/>
          </p:cNvSpPr>
          <p:nvPr>
            <p:ph type="body" idx="1"/>
          </p:nvPr>
        </p:nvSpPr>
        <p:spPr>
          <a:xfrm>
            <a:off x="818712" y="2222288"/>
            <a:ext cx="8108471" cy="349978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0" algn="l" rtl="0">
              <a:spcBef>
                <a:spcPts val="960"/>
              </a:spcBef>
              <a:spcAft>
                <a:spcPts val="0"/>
              </a:spcAft>
              <a:buNone/>
            </a:pPr>
            <a:endParaRPr dirty="0"/>
          </a:p>
          <a:p>
            <a:pPr marL="342900" lvl="0" indent="-228600" algn="l" rtl="0">
              <a:spcBef>
                <a:spcPts val="960"/>
              </a:spcBef>
              <a:spcAft>
                <a:spcPts val="0"/>
              </a:spcAft>
              <a:buSzPts val="1800"/>
              <a:buFont typeface="Century Gothic"/>
              <a:buNone/>
            </a:pPr>
            <a:endParaRPr dirty="0"/>
          </a:p>
        </p:txBody>
      </p:sp>
      <p:sp>
        <p:nvSpPr>
          <p:cNvPr id="123" name="Google Shape;123;p3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300" cy="490500"/>
          </a:xfrm>
          <a:prstGeom prst="rect">
            <a:avLst/>
          </a:prstGeom>
        </p:spPr>
        <p:txBody>
          <a:bodyPr spcFirstLastPara="1" wrap="square" lIns="91425" tIns="45700" rIns="91425" bIns="108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2</a:t>
            </a:fld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C2FD70-D449-476A-B117-C43F491AE35F}"/>
              </a:ext>
            </a:extLst>
          </p:cNvPr>
          <p:cNvSpPr txBox="1"/>
          <p:nvPr/>
        </p:nvSpPr>
        <p:spPr>
          <a:xfrm>
            <a:off x="810000" y="2448685"/>
            <a:ext cx="865822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0" dirty="0">
                <a:solidFill>
                  <a:schemeClr val="bg1"/>
                </a:solidFill>
                <a:effectLst/>
                <a:latin typeface="+mn-lt"/>
              </a:rPr>
              <a:t>Цель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+mn-lt"/>
              </a:rPr>
              <a:t>: Создать функциональный интернет-магазин одежды </a:t>
            </a:r>
          </a:p>
          <a:p>
            <a:endParaRPr lang="ru-RU" sz="2400" b="0" i="0" dirty="0">
              <a:solidFill>
                <a:schemeClr val="bg1"/>
              </a:solidFill>
              <a:effectLst/>
              <a:latin typeface="+mn-lt"/>
            </a:endParaRPr>
          </a:p>
          <a:p>
            <a:r>
              <a:rPr lang="ru-RU" sz="2400" b="1" i="0" dirty="0">
                <a:solidFill>
                  <a:schemeClr val="bg1"/>
                </a:solidFill>
                <a:effectLst/>
                <a:latin typeface="+mn-lt"/>
              </a:rPr>
              <a:t>Задачи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: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+mn-lt"/>
              </a:rPr>
              <a:t> </a:t>
            </a:r>
          </a:p>
          <a:p>
            <a:pPr marL="457200" indent="-457200">
              <a:buClr>
                <a:schemeClr val="bg1"/>
              </a:buClr>
              <a:buFont typeface="+mj-lt"/>
              <a:buAutoNum type="arabicPeriod"/>
            </a:pPr>
            <a:r>
              <a:rPr lang="ru-RU" sz="2400" b="0" i="0" dirty="0">
                <a:solidFill>
                  <a:schemeClr val="bg1"/>
                </a:solidFill>
                <a:effectLst/>
                <a:latin typeface="+mn-lt"/>
              </a:rPr>
              <a:t>Реализовать каталог товаров с фильтрацией и поиском</a:t>
            </a:r>
          </a:p>
          <a:p>
            <a:pPr marL="457200" indent="-457200">
              <a:buClr>
                <a:schemeClr val="bg1"/>
              </a:buClr>
              <a:buFont typeface="+mj-lt"/>
              <a:buAutoNum type="arabicPeriod"/>
            </a:pPr>
            <a:r>
              <a:rPr lang="ru-RU" sz="2400" b="0" i="0" dirty="0">
                <a:solidFill>
                  <a:schemeClr val="bg1"/>
                </a:solidFill>
                <a:effectLst/>
                <a:latin typeface="+mn-lt"/>
              </a:rPr>
              <a:t>Создать систему регистрации и авторизации пользователей </a:t>
            </a:r>
          </a:p>
          <a:p>
            <a:pPr marL="457200" indent="-457200">
              <a:buClr>
                <a:schemeClr val="bg1"/>
              </a:buClr>
              <a:buFont typeface="+mj-lt"/>
              <a:buAutoNum type="arabicPeriod"/>
            </a:pPr>
            <a:r>
              <a:rPr lang="ru-RU" sz="2400" b="0" i="0" dirty="0">
                <a:solidFill>
                  <a:schemeClr val="bg1"/>
                </a:solidFill>
                <a:effectLst/>
                <a:latin typeface="+mn-lt"/>
              </a:rPr>
              <a:t>Разработать корзину покупок и оформление заказов</a:t>
            </a:r>
          </a:p>
          <a:p>
            <a:pPr marL="457200" indent="-457200">
              <a:buClr>
                <a:schemeClr val="bg1"/>
              </a:buClr>
              <a:buFont typeface="+mj-lt"/>
              <a:buAutoNum type="arabicPeriod"/>
            </a:pPr>
            <a:r>
              <a:rPr lang="ru-RU" sz="2400" b="0" i="0" dirty="0">
                <a:solidFill>
                  <a:schemeClr val="bg1"/>
                </a:solidFill>
                <a:effectLst/>
                <a:latin typeface="+mn-lt"/>
              </a:rPr>
              <a:t>Обеспечить хранение данных (</a:t>
            </a:r>
            <a:r>
              <a:rPr lang="ru-RU" sz="2400" b="0" i="0" dirty="0" err="1">
                <a:solidFill>
                  <a:schemeClr val="bg1"/>
                </a:solidFill>
                <a:effectLst/>
                <a:latin typeface="+mn-lt"/>
              </a:rPr>
              <a:t>бд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+mn-lt"/>
              </a:rPr>
              <a:t>) </a:t>
            </a:r>
          </a:p>
          <a:p>
            <a:pPr marL="457200" indent="-457200">
              <a:buClr>
                <a:schemeClr val="bg1"/>
              </a:buClr>
              <a:buFont typeface="+mj-lt"/>
              <a:buAutoNum type="arabicPeriod"/>
            </a:pPr>
            <a:r>
              <a:rPr lang="ru-RU" sz="2400" b="0" i="0" dirty="0">
                <a:solidFill>
                  <a:schemeClr val="bg1"/>
                </a:solidFill>
                <a:effectLst/>
                <a:latin typeface="+mn-lt"/>
              </a:rPr>
              <a:t>Сделать удобный интерфейс</a:t>
            </a:r>
            <a:endParaRPr lang="ru-RU" sz="2400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36836af5f_0_5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ru-RU"/>
              <a:t>Актуальность</a:t>
            </a:r>
            <a:endParaRPr/>
          </a:p>
        </p:txBody>
      </p:sp>
      <p:sp>
        <p:nvSpPr>
          <p:cNvPr id="129" name="Google Shape;129;g3a36836af5f_0_5"/>
          <p:cNvSpPr txBox="1">
            <a:spLocks noGrp="1"/>
          </p:cNvSpPr>
          <p:nvPr>
            <p:ph type="body" idx="1"/>
          </p:nvPr>
        </p:nvSpPr>
        <p:spPr>
          <a:xfrm>
            <a:off x="818712" y="2222288"/>
            <a:ext cx="8108400" cy="3499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0" algn="l" rtl="0">
              <a:spcBef>
                <a:spcPts val="960"/>
              </a:spcBef>
              <a:spcAft>
                <a:spcPts val="0"/>
              </a:spcAft>
              <a:buNone/>
            </a:pPr>
            <a:endParaRPr dirty="0"/>
          </a:p>
          <a:p>
            <a:pPr marL="342900" lvl="0" indent="-228600" algn="l" rtl="0">
              <a:spcBef>
                <a:spcPts val="960"/>
              </a:spcBef>
              <a:spcAft>
                <a:spcPts val="0"/>
              </a:spcAft>
              <a:buSzPts val="1800"/>
              <a:buFont typeface="Century Gothic"/>
              <a:buNone/>
            </a:pPr>
            <a:endParaRPr dirty="0"/>
          </a:p>
        </p:txBody>
      </p:sp>
      <p:sp>
        <p:nvSpPr>
          <p:cNvPr id="130" name="Google Shape;130;g3a36836af5f_0_5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300" cy="490500"/>
          </a:xfrm>
          <a:prstGeom prst="rect">
            <a:avLst/>
          </a:prstGeom>
        </p:spPr>
        <p:txBody>
          <a:bodyPr spcFirstLastPara="1" wrap="square" lIns="91425" tIns="45700" rIns="91425" bIns="108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4137ED-AAB9-4C19-949E-27D39AFA8B65}"/>
              </a:ext>
            </a:extLst>
          </p:cNvPr>
          <p:cNvSpPr txBox="1"/>
          <p:nvPr/>
        </p:nvSpPr>
        <p:spPr>
          <a:xfrm>
            <a:off x="810000" y="2667000"/>
            <a:ext cx="71433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0" i="0" dirty="0">
                <a:solidFill>
                  <a:schemeClr val="bg1"/>
                </a:solidFill>
                <a:effectLst/>
                <a:latin typeface="+mn-lt"/>
              </a:rPr>
              <a:t>Одежда — товар повседневного спроса.</a:t>
            </a:r>
          </a:p>
          <a:p>
            <a:pPr algn="just"/>
            <a:r>
              <a:rPr lang="ru-RU" sz="2400" b="0" i="0" dirty="0">
                <a:solidFill>
                  <a:schemeClr val="bg1"/>
                </a:solidFill>
                <a:effectLst/>
                <a:latin typeface="+mn-lt"/>
              </a:rPr>
              <a:t>Онлайн-шоппинг в связи с развитием технологи. Малому бизнесу нужны простые и недорогие решения для запуска онлайн-продаж </a:t>
            </a:r>
          </a:p>
          <a:p>
            <a:pPr algn="just"/>
            <a:r>
              <a:rPr lang="ru-RU" sz="2400" dirty="0">
                <a:solidFill>
                  <a:schemeClr val="bg1"/>
                </a:solidFill>
                <a:latin typeface="+mn-lt"/>
              </a:rPr>
              <a:t>Свой сайт – возможность собирать данные и контролировать продажи.</a:t>
            </a:r>
            <a:endParaRPr lang="ru-RU" sz="2400" b="0" i="0" dirty="0">
              <a:solidFill>
                <a:schemeClr val="bg1"/>
              </a:solidFill>
              <a:effectLst/>
              <a:latin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f002684f3b_0_5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ru-RU"/>
              <a:t>Использованные технологии</a:t>
            </a:r>
            <a:endParaRPr/>
          </a:p>
        </p:txBody>
      </p:sp>
      <p:sp>
        <p:nvSpPr>
          <p:cNvPr id="136" name="Google Shape;136;g1f002684f3b_0_5"/>
          <p:cNvSpPr txBox="1">
            <a:spLocks noGrp="1"/>
          </p:cNvSpPr>
          <p:nvPr>
            <p:ph type="body" idx="1"/>
          </p:nvPr>
        </p:nvSpPr>
        <p:spPr>
          <a:xfrm>
            <a:off x="818712" y="2222288"/>
            <a:ext cx="8649138" cy="3499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0" algn="l" rtl="0">
              <a:spcBef>
                <a:spcPts val="960"/>
              </a:spcBef>
              <a:spcAft>
                <a:spcPts val="0"/>
              </a:spcAft>
              <a:buNone/>
            </a:pPr>
            <a:endParaRPr dirty="0"/>
          </a:p>
          <a:p>
            <a:pPr marL="342900" lvl="0" indent="-228600" algn="l" rtl="0">
              <a:spcBef>
                <a:spcPts val="960"/>
              </a:spcBef>
              <a:spcAft>
                <a:spcPts val="0"/>
              </a:spcAft>
              <a:buSzPts val="1800"/>
              <a:buFont typeface="Century Gothic"/>
              <a:buNone/>
            </a:pPr>
            <a:endParaRPr dirty="0"/>
          </a:p>
        </p:txBody>
      </p:sp>
      <p:sp>
        <p:nvSpPr>
          <p:cNvPr id="137" name="Google Shape;137;g1f002684f3b_0_5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300" cy="490500"/>
          </a:xfrm>
          <a:prstGeom prst="rect">
            <a:avLst/>
          </a:prstGeom>
        </p:spPr>
        <p:txBody>
          <a:bodyPr spcFirstLastPara="1" wrap="square" lIns="91425" tIns="45700" rIns="91425" bIns="108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FB3D2E-4FF2-4BAF-893D-E49C1C8635C6}"/>
              </a:ext>
            </a:extLst>
          </p:cNvPr>
          <p:cNvSpPr txBox="1"/>
          <p:nvPr/>
        </p:nvSpPr>
        <p:spPr>
          <a:xfrm>
            <a:off x="1152524" y="2633360"/>
            <a:ext cx="68103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Python 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+mn-lt"/>
              </a:rPr>
              <a:t>-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+mn-lt"/>
              </a:rPr>
              <a:t>Язык программирования</a:t>
            </a:r>
          </a:p>
          <a:p>
            <a:pPr algn="just"/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Flask 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+mn-lt"/>
              </a:rPr>
              <a:t>- Веб-фреймворк (маршруты, сессии) </a:t>
            </a:r>
          </a:p>
          <a:p>
            <a:pPr algn="just"/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HTML 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+mn-lt"/>
              </a:rPr>
              <a:t>– создание страниц </a:t>
            </a:r>
          </a:p>
          <a:p>
            <a:pPr algn="just"/>
            <a:r>
              <a:rPr lang="en-US" sz="2400" b="0" i="0" dirty="0" err="1">
                <a:solidFill>
                  <a:schemeClr val="bg1"/>
                </a:solidFill>
                <a:effectLst/>
                <a:latin typeface="+mn-lt"/>
              </a:rPr>
              <a:t>SQLAlchemy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 ORM 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+mn-lt"/>
              </a:rPr>
              <a:t>для работы с базой данных </a:t>
            </a:r>
          </a:p>
          <a:p>
            <a:pPr algn="just"/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SQLite 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+mn-lt"/>
              </a:rPr>
              <a:t>- База данных </a:t>
            </a:r>
          </a:p>
          <a:p>
            <a:pPr algn="just"/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HTML5 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+mn-lt"/>
              </a:rPr>
              <a:t>- Структура страниц </a:t>
            </a:r>
          </a:p>
          <a:p>
            <a:pPr algn="just"/>
            <a:r>
              <a:rPr lang="en-US" sz="2400" b="0" i="0" dirty="0">
                <a:solidFill>
                  <a:schemeClr val="bg1"/>
                </a:solidFill>
                <a:effectLst/>
                <a:latin typeface="+mn-lt"/>
              </a:rPr>
              <a:t>CSS3 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+mn-lt"/>
              </a:rPr>
              <a:t>- Стилизация</a:t>
            </a:r>
            <a:endParaRPr lang="ru-RU" sz="2400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f002684f3b_0_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ru-RU"/>
              <a:t>Примеры работы</a:t>
            </a:r>
            <a:endParaRPr/>
          </a:p>
        </p:txBody>
      </p:sp>
      <p:sp>
        <p:nvSpPr>
          <p:cNvPr id="143" name="Google Shape;143;g1f002684f3b_0_0"/>
          <p:cNvSpPr txBox="1">
            <a:spLocks noGrp="1"/>
          </p:cNvSpPr>
          <p:nvPr>
            <p:ph type="body" idx="1"/>
          </p:nvPr>
        </p:nvSpPr>
        <p:spPr>
          <a:xfrm>
            <a:off x="818712" y="2222288"/>
            <a:ext cx="8108400" cy="3499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342900" lvl="0" indent="0" algn="l" rtl="0">
              <a:spcBef>
                <a:spcPts val="960"/>
              </a:spcBef>
              <a:spcAft>
                <a:spcPts val="0"/>
              </a:spcAft>
              <a:buNone/>
            </a:pPr>
            <a:endParaRPr/>
          </a:p>
          <a:p>
            <a:pPr marL="342900" lvl="0" indent="-228600" algn="l" rtl="0">
              <a:spcBef>
                <a:spcPts val="960"/>
              </a:spcBef>
              <a:spcAft>
                <a:spcPts val="0"/>
              </a:spcAft>
              <a:buSzPts val="1800"/>
              <a:buFont typeface="Century Gothic"/>
              <a:buNone/>
            </a:pPr>
            <a:endParaRPr/>
          </a:p>
        </p:txBody>
      </p:sp>
      <p:sp>
        <p:nvSpPr>
          <p:cNvPr id="144" name="Google Shape;144;g1f002684f3b_0_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300" cy="490500"/>
          </a:xfrm>
          <a:prstGeom prst="rect">
            <a:avLst/>
          </a:prstGeom>
        </p:spPr>
        <p:txBody>
          <a:bodyPr spcFirstLastPara="1" wrap="square" lIns="91425" tIns="45700" rIns="91425" bIns="108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96A7B750-44F7-4249-8FD3-F745DDD254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983512" cy="2983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8012D5D-8608-40F0-8C65-5E5C1EDF2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156" y="2361173"/>
            <a:ext cx="4464266" cy="369416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80B68BA-0D4F-4F75-8AC7-A567F5C92D8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060" r="6318"/>
          <a:stretch/>
        </p:blipFill>
        <p:spPr>
          <a:xfrm>
            <a:off x="4860170" y="2361173"/>
            <a:ext cx="2535328" cy="369416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69ACCD4-862C-487F-BD98-3FADB6EB23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9384" y="2361173"/>
            <a:ext cx="4392459" cy="28680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ru-RU" dirty="0"/>
              <a:t>Заключение</a:t>
            </a:r>
            <a:endParaRPr dirty="0"/>
          </a:p>
        </p:txBody>
      </p:sp>
      <p:sp>
        <p:nvSpPr>
          <p:cNvPr id="150" name="Google Shape;150;p1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300" cy="490500"/>
          </a:xfrm>
          <a:prstGeom prst="rect">
            <a:avLst/>
          </a:prstGeom>
        </p:spPr>
        <p:txBody>
          <a:bodyPr spcFirstLastPara="1" wrap="square" lIns="91425" tIns="45700" rIns="91425" bIns="108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C50A4F-156D-46B6-A336-4A8AA402CCDC}"/>
              </a:ext>
            </a:extLst>
          </p:cNvPr>
          <p:cNvSpPr txBox="1"/>
          <p:nvPr/>
        </p:nvSpPr>
        <p:spPr>
          <a:xfrm>
            <a:off x="810000" y="2767280"/>
            <a:ext cx="702707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solidFill>
                  <a:schemeClr val="bg1"/>
                </a:solidFill>
              </a:rPr>
              <a:t>- Создан работающий прототип интернет-магазина</a:t>
            </a:r>
          </a:p>
          <a:p>
            <a:pPr algn="just"/>
            <a:endParaRPr lang="ru-RU" sz="2000" dirty="0">
              <a:solidFill>
                <a:schemeClr val="bg1"/>
              </a:solidFill>
            </a:endParaRPr>
          </a:p>
          <a:p>
            <a:pPr algn="just"/>
            <a:r>
              <a:rPr lang="ru-RU" sz="2000" dirty="0">
                <a:solidFill>
                  <a:schemeClr val="bg1"/>
                </a:solidFill>
              </a:rPr>
              <a:t>- Освоены технологии: </a:t>
            </a:r>
            <a:r>
              <a:rPr lang="ru-RU" sz="2000" dirty="0" err="1">
                <a:solidFill>
                  <a:schemeClr val="bg1"/>
                </a:solidFill>
              </a:rPr>
              <a:t>Flask</a:t>
            </a:r>
            <a:r>
              <a:rPr lang="ru-RU" sz="2000" dirty="0">
                <a:solidFill>
                  <a:schemeClr val="bg1"/>
                </a:solidFill>
              </a:rPr>
              <a:t>, </a:t>
            </a:r>
            <a:r>
              <a:rPr lang="ru-RU" sz="2000" dirty="0" err="1">
                <a:solidFill>
                  <a:schemeClr val="bg1"/>
                </a:solidFill>
              </a:rPr>
              <a:t>SQLAlchemy</a:t>
            </a:r>
            <a:endParaRPr lang="ru-RU" sz="2000" dirty="0">
              <a:solidFill>
                <a:schemeClr val="bg1"/>
              </a:solidFill>
            </a:endParaRPr>
          </a:p>
          <a:p>
            <a:pPr algn="just"/>
            <a:endParaRPr lang="ru-RU" sz="2000" dirty="0">
              <a:solidFill>
                <a:schemeClr val="bg1"/>
              </a:solidFill>
            </a:endParaRPr>
          </a:p>
          <a:p>
            <a:pPr algn="just"/>
            <a:r>
              <a:rPr lang="ru-RU" sz="2000" dirty="0">
                <a:solidFill>
                  <a:schemeClr val="bg1"/>
                </a:solidFill>
              </a:rPr>
              <a:t>- Код структурирован и готов к расширению</a:t>
            </a:r>
          </a:p>
          <a:p>
            <a:pPr algn="just"/>
            <a:endParaRPr lang="ru-RU" sz="2000" dirty="0">
              <a:solidFill>
                <a:schemeClr val="bg1"/>
              </a:solidFill>
            </a:endParaRPr>
          </a:p>
          <a:p>
            <a:pPr algn="just"/>
            <a:r>
              <a:rPr lang="ru-RU" sz="2000" dirty="0">
                <a:solidFill>
                  <a:schemeClr val="bg1"/>
                </a:solidFill>
              </a:rPr>
              <a:t>- Проект можно расширять к лучшему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ru-RU"/>
              <a:t>Ссылки на исходный код</a:t>
            </a:r>
            <a:endParaRPr/>
          </a:p>
        </p:txBody>
      </p:sp>
      <p:sp>
        <p:nvSpPr>
          <p:cNvPr id="156" name="Google Shape;156;p1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300" cy="490500"/>
          </a:xfrm>
          <a:prstGeom prst="rect">
            <a:avLst/>
          </a:prstGeom>
        </p:spPr>
        <p:txBody>
          <a:bodyPr spcFirstLastPara="1" wrap="square" lIns="91425" tIns="45700" rIns="91425" bIns="108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9F8754-9DD2-4C20-A33F-4190B5871B95}"/>
              </a:ext>
            </a:extLst>
          </p:cNvPr>
          <p:cNvSpPr txBox="1"/>
          <p:nvPr/>
        </p:nvSpPr>
        <p:spPr>
          <a:xfrm>
            <a:off x="810000" y="2877949"/>
            <a:ext cx="557212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0" u="sng" dirty="0">
                <a:solidFill>
                  <a:schemeClr val="bg1"/>
                </a:solidFill>
                <a:effectLst/>
                <a:latin typeface="inherit"/>
                <a:hlinkClick r:id="rId3" tooltip="https://github.com/difuzzBTM/MAGA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https://github.com/difuzzBTM/MAGAZ</a:t>
            </a:r>
            <a:endParaRPr lang="ru-RU" sz="2400" b="0" i="0" u="sng" dirty="0">
              <a:solidFill>
                <a:schemeClr val="bg1"/>
              </a:solidFill>
              <a:effectLst/>
              <a:latin typeface="inherit"/>
            </a:endParaRPr>
          </a:p>
          <a:p>
            <a:endParaRPr lang="ru-RU" u="sng" dirty="0">
              <a:latin typeface="inherit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Цитаты">
  <a:themeElements>
    <a:clrScheme name="Цитаты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164</Words>
  <Application>Microsoft Office PowerPoint</Application>
  <PresentationFormat>Широкоэкранный</PresentationFormat>
  <Paragraphs>46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Noto Sans Symbols</vt:lpstr>
      <vt:lpstr>inherit</vt:lpstr>
      <vt:lpstr>Arial</vt:lpstr>
      <vt:lpstr>Century Gothic</vt:lpstr>
      <vt:lpstr>Цитаты</vt:lpstr>
      <vt:lpstr>Сайт-магазин одежды</vt:lpstr>
      <vt:lpstr>Цели и задачи</vt:lpstr>
      <vt:lpstr>Актуальность</vt:lpstr>
      <vt:lpstr>Использованные технологии</vt:lpstr>
      <vt:lpstr>Примеры работы</vt:lpstr>
      <vt:lpstr>Заключение</vt:lpstr>
      <vt:lpstr>Ссылки на исходный код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Сайт для магазина одежды</dc:title>
  <dc:creator>kirill ilin</dc:creator>
  <cp:lastModifiedBy>Алексей Акиндинов</cp:lastModifiedBy>
  <cp:revision>5</cp:revision>
  <dcterms:created xsi:type="dcterms:W3CDTF">2023-06-11T16:14:36Z</dcterms:created>
  <dcterms:modified xsi:type="dcterms:W3CDTF">2026-05-17T13:41:35Z</dcterms:modified>
</cp:coreProperties>
</file>